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0" r:id="rId3"/>
    <p:sldId id="257" r:id="rId4"/>
    <p:sldId id="280" r:id="rId5"/>
    <p:sldId id="263" r:id="rId6"/>
    <p:sldId id="264" r:id="rId7"/>
    <p:sldId id="274" r:id="rId8"/>
    <p:sldId id="269" r:id="rId9"/>
    <p:sldId id="272" r:id="rId10"/>
    <p:sldId id="267" r:id="rId11"/>
    <p:sldId id="275" r:id="rId12"/>
    <p:sldId id="278" r:id="rId13"/>
  </p:sldIdLst>
  <p:sldSz cx="18288000" cy="10287000"/>
  <p:notesSz cx="6858000" cy="9144000"/>
  <p:embeddedFontLst>
    <p:embeddedFont>
      <p:font typeface="Bobby Jones" pitchFamily="2" charset="0"/>
      <p:regular r:id="rId14"/>
    </p:embeddedFont>
    <p:embeddedFont>
      <p:font typeface="Livvic" pitchFamily="2" charset="77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75" autoAdjust="0"/>
    <p:restoredTop sz="94609" autoAdjust="0"/>
  </p:normalViewPr>
  <p:slideViewPr>
    <p:cSldViewPr>
      <p:cViewPr varScale="1">
        <p:scale>
          <a:sx n="59" d="100"/>
          <a:sy n="59" d="100"/>
        </p:scale>
        <p:origin x="224" y="14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sadagha24" TargetMode="External"/><Relationship Id="rId3" Type="http://schemas.openxmlformats.org/officeDocument/2006/relationships/image" Target="../media/image14.jpe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linkedin.com/in/asad-agha" TargetMode="External"/><Relationship Id="rId5" Type="http://schemas.openxmlformats.org/officeDocument/2006/relationships/image" Target="../media/image15.png"/><Relationship Id="rId4" Type="http://schemas.openxmlformats.org/officeDocument/2006/relationships/hyperlink" Target="mailto:asadagha2024@gmail.com" TargetMode="External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666" b="-10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457200" y="100074"/>
            <a:ext cx="9317532" cy="10711683"/>
            <a:chOff x="0" y="0"/>
            <a:chExt cx="2454000" cy="28211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54000" cy="2821184"/>
            </a:xfrm>
            <a:custGeom>
              <a:avLst/>
              <a:gdLst/>
              <a:ahLst/>
              <a:cxnLst/>
              <a:rect l="l" t="t" r="r" b="b"/>
              <a:pathLst>
                <a:path w="2454000" h="2821184">
                  <a:moveTo>
                    <a:pt x="0" y="0"/>
                  </a:moveTo>
                  <a:lnTo>
                    <a:pt x="2454000" y="0"/>
                  </a:lnTo>
                  <a:lnTo>
                    <a:pt x="2454000" y="2821184"/>
                  </a:lnTo>
                  <a:lnTo>
                    <a:pt x="0" y="2821184"/>
                  </a:lnTo>
                  <a:close/>
                </a:path>
              </a:pathLst>
            </a:custGeom>
            <a:solidFill>
              <a:srgbClr val="093362">
                <a:alpha val="8000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54000" cy="2868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98690" y="1618278"/>
            <a:ext cx="6289316" cy="1839625"/>
          </a:xfrm>
          <a:custGeom>
            <a:avLst/>
            <a:gdLst/>
            <a:ahLst/>
            <a:cxnLst/>
            <a:rect l="l" t="t" r="r" b="b"/>
            <a:pathLst>
              <a:path w="6289316" h="1839625">
                <a:moveTo>
                  <a:pt x="0" y="0"/>
                </a:moveTo>
                <a:lnTo>
                  <a:pt x="6289316" y="0"/>
                </a:lnTo>
                <a:lnTo>
                  <a:pt x="6289316" y="1839624"/>
                </a:lnTo>
                <a:lnTo>
                  <a:pt x="0" y="18396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3648402"/>
            <a:ext cx="6829296" cy="3615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29"/>
              </a:lnSpc>
            </a:pPr>
            <a:r>
              <a:rPr lang="en-US" sz="6000" dirty="0">
                <a:solidFill>
                  <a:srgbClr val="FFFFFF"/>
                </a:solidFill>
                <a:latin typeface="Bobby Jones"/>
                <a:ea typeface="Bobby Jones"/>
                <a:cs typeface="Bobby Jones"/>
                <a:sym typeface="Bobby Jones"/>
              </a:rPr>
              <a:t>WEATHER CONDITIONS &amp; CLIMATE CHANGE WITH CLIMATEWINS 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1AC2C6F0-BADF-2ED9-2DFA-8D36FDD56FC5}"/>
              </a:ext>
            </a:extLst>
          </p:cNvPr>
          <p:cNvSpPr txBox="1"/>
          <p:nvPr/>
        </p:nvSpPr>
        <p:spPr>
          <a:xfrm>
            <a:off x="504904" y="7444257"/>
            <a:ext cx="7876888" cy="12169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>
              <a:lnSpc>
                <a:spcPct val="150000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Asad Agha</a:t>
            </a:r>
          </a:p>
          <a:p>
            <a:pPr marL="0" lvl="1" indent="0">
              <a:lnSpc>
                <a:spcPct val="150000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August,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565254"/>
            <a:ext cx="7580770" cy="1915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80"/>
              </a:lnSpc>
            </a:pPr>
            <a:r>
              <a:rPr lang="en-US" sz="2400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Identify unusual European weather patterns, assess if these anomalies are increasing, and predict the safest regions for habitation over the next 25 to 50 years.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95300"/>
            <a:ext cx="7580770" cy="994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0"/>
              </a:lnSpc>
            </a:pPr>
            <a:r>
              <a:rPr lang="en-US" sz="6000" dirty="0">
                <a:solidFill>
                  <a:srgbClr val="093362"/>
                </a:solidFill>
                <a:latin typeface="Bobby Jones"/>
                <a:ea typeface="Bobby Jones"/>
                <a:cs typeface="Bobby Jones"/>
                <a:sym typeface="Bobby Jones"/>
              </a:rPr>
              <a:t>OBJECTIVE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9737029" y="-821941"/>
            <a:ext cx="8804453" cy="13206680"/>
            <a:chOff x="0" y="0"/>
            <a:chExt cx="6350000" cy="9525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9525000"/>
            </a:xfrm>
            <a:custGeom>
              <a:avLst/>
              <a:gdLst/>
              <a:ahLst/>
              <a:cxnLst/>
              <a:rect l="l" t="t" r="r" b="b"/>
              <a:pathLst>
                <a:path w="6350000" h="9525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2"/>
              <a:stretch>
                <a:fillRect l="-63421" r="-6342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3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4438" y="385116"/>
            <a:ext cx="17659125" cy="9516767"/>
            <a:chOff x="0" y="0"/>
            <a:chExt cx="4650963" cy="25064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50963" cy="2506474"/>
            </a:xfrm>
            <a:custGeom>
              <a:avLst/>
              <a:gdLst/>
              <a:ahLst/>
              <a:cxnLst/>
              <a:rect l="l" t="t" r="r" b="b"/>
              <a:pathLst>
                <a:path w="4650963" h="2506474">
                  <a:moveTo>
                    <a:pt x="0" y="0"/>
                  </a:moveTo>
                  <a:lnTo>
                    <a:pt x="4650963" y="0"/>
                  </a:lnTo>
                  <a:lnTo>
                    <a:pt x="4650963" y="2506474"/>
                  </a:lnTo>
                  <a:lnTo>
                    <a:pt x="0" y="25064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650963" cy="2554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74419" y="4252075"/>
            <a:ext cx="4975136" cy="4619502"/>
            <a:chOff x="0" y="0"/>
            <a:chExt cx="1404030" cy="13036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04030" cy="1303667"/>
            </a:xfrm>
            <a:custGeom>
              <a:avLst/>
              <a:gdLst/>
              <a:ahLst/>
              <a:cxnLst/>
              <a:rect l="l" t="t" r="r" b="b"/>
              <a:pathLst>
                <a:path w="1404030" h="1303667">
                  <a:moveTo>
                    <a:pt x="38903" y="0"/>
                  </a:moveTo>
                  <a:lnTo>
                    <a:pt x="1365127" y="0"/>
                  </a:lnTo>
                  <a:cubicBezTo>
                    <a:pt x="1386613" y="0"/>
                    <a:pt x="1404030" y="17417"/>
                    <a:pt x="1404030" y="38903"/>
                  </a:cubicBezTo>
                  <a:lnTo>
                    <a:pt x="1404030" y="1264764"/>
                  </a:lnTo>
                  <a:cubicBezTo>
                    <a:pt x="1404030" y="1286249"/>
                    <a:pt x="1386613" y="1303667"/>
                    <a:pt x="1365127" y="1303667"/>
                  </a:cubicBezTo>
                  <a:lnTo>
                    <a:pt x="38903" y="1303667"/>
                  </a:lnTo>
                  <a:cubicBezTo>
                    <a:pt x="17417" y="1303667"/>
                    <a:pt x="0" y="1286249"/>
                    <a:pt x="0" y="1264764"/>
                  </a:cubicBezTo>
                  <a:lnTo>
                    <a:pt x="0" y="38903"/>
                  </a:lnTo>
                  <a:cubicBezTo>
                    <a:pt x="0" y="17417"/>
                    <a:pt x="17417" y="0"/>
                    <a:pt x="38903" y="0"/>
                  </a:cubicBezTo>
                  <a:close/>
                </a:path>
              </a:pathLst>
            </a:custGeom>
            <a:solidFill>
              <a:srgbClr val="09336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04030" cy="1351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318664" y="4252075"/>
            <a:ext cx="4940636" cy="4619502"/>
            <a:chOff x="0" y="0"/>
            <a:chExt cx="1394294" cy="13036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94294" cy="1303667"/>
            </a:xfrm>
            <a:custGeom>
              <a:avLst/>
              <a:gdLst/>
              <a:ahLst/>
              <a:cxnLst/>
              <a:rect l="l" t="t" r="r" b="b"/>
              <a:pathLst>
                <a:path w="1394294" h="1303667">
                  <a:moveTo>
                    <a:pt x="39175" y="0"/>
                  </a:moveTo>
                  <a:lnTo>
                    <a:pt x="1355119" y="0"/>
                  </a:lnTo>
                  <a:cubicBezTo>
                    <a:pt x="1365509" y="0"/>
                    <a:pt x="1375473" y="4127"/>
                    <a:pt x="1382820" y="11474"/>
                  </a:cubicBezTo>
                  <a:cubicBezTo>
                    <a:pt x="1390167" y="18821"/>
                    <a:pt x="1394294" y="28785"/>
                    <a:pt x="1394294" y="39175"/>
                  </a:cubicBezTo>
                  <a:lnTo>
                    <a:pt x="1394294" y="1264492"/>
                  </a:lnTo>
                  <a:cubicBezTo>
                    <a:pt x="1394294" y="1286128"/>
                    <a:pt x="1376755" y="1303667"/>
                    <a:pt x="1355119" y="1303667"/>
                  </a:cubicBezTo>
                  <a:lnTo>
                    <a:pt x="39175" y="1303667"/>
                  </a:lnTo>
                  <a:cubicBezTo>
                    <a:pt x="28785" y="1303667"/>
                    <a:pt x="18821" y="1299539"/>
                    <a:pt x="11474" y="1292193"/>
                  </a:cubicBezTo>
                  <a:cubicBezTo>
                    <a:pt x="4127" y="1284846"/>
                    <a:pt x="0" y="1274882"/>
                    <a:pt x="0" y="1264492"/>
                  </a:cubicBezTo>
                  <a:lnTo>
                    <a:pt x="0" y="39175"/>
                  </a:lnTo>
                  <a:cubicBezTo>
                    <a:pt x="0" y="28785"/>
                    <a:pt x="4127" y="18821"/>
                    <a:pt x="11474" y="11474"/>
                  </a:cubicBezTo>
                  <a:cubicBezTo>
                    <a:pt x="18821" y="4127"/>
                    <a:pt x="28785" y="0"/>
                    <a:pt x="39175" y="0"/>
                  </a:cubicBezTo>
                  <a:close/>
                </a:path>
              </a:pathLst>
            </a:custGeom>
            <a:solidFill>
              <a:srgbClr val="09336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394294" cy="1351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0175" y="4252075"/>
            <a:ext cx="4975136" cy="4619502"/>
            <a:chOff x="0" y="0"/>
            <a:chExt cx="1404030" cy="13036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04030" cy="1303667"/>
            </a:xfrm>
            <a:custGeom>
              <a:avLst/>
              <a:gdLst/>
              <a:ahLst/>
              <a:cxnLst/>
              <a:rect l="l" t="t" r="r" b="b"/>
              <a:pathLst>
                <a:path w="1404030" h="1303667">
                  <a:moveTo>
                    <a:pt x="38903" y="0"/>
                  </a:moveTo>
                  <a:lnTo>
                    <a:pt x="1365127" y="0"/>
                  </a:lnTo>
                  <a:cubicBezTo>
                    <a:pt x="1386613" y="0"/>
                    <a:pt x="1404030" y="17417"/>
                    <a:pt x="1404030" y="38903"/>
                  </a:cubicBezTo>
                  <a:lnTo>
                    <a:pt x="1404030" y="1264764"/>
                  </a:lnTo>
                  <a:cubicBezTo>
                    <a:pt x="1404030" y="1286249"/>
                    <a:pt x="1386613" y="1303667"/>
                    <a:pt x="1365127" y="1303667"/>
                  </a:cubicBezTo>
                  <a:lnTo>
                    <a:pt x="38903" y="1303667"/>
                  </a:lnTo>
                  <a:cubicBezTo>
                    <a:pt x="17417" y="1303667"/>
                    <a:pt x="0" y="1286249"/>
                    <a:pt x="0" y="1264764"/>
                  </a:cubicBezTo>
                  <a:lnTo>
                    <a:pt x="0" y="38903"/>
                  </a:lnTo>
                  <a:cubicBezTo>
                    <a:pt x="0" y="17417"/>
                    <a:pt x="17417" y="0"/>
                    <a:pt x="38903" y="0"/>
                  </a:cubicBezTo>
                  <a:close/>
                </a:path>
              </a:pathLst>
            </a:custGeom>
            <a:solidFill>
              <a:srgbClr val="09336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404030" cy="1351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131743" y="4669279"/>
            <a:ext cx="771999" cy="771999"/>
            <a:chOff x="0" y="0"/>
            <a:chExt cx="6350000" cy="635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777463" y="4669279"/>
            <a:ext cx="771999" cy="771999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421330" y="4669279"/>
            <a:ext cx="771999" cy="771999"/>
            <a:chOff x="0" y="0"/>
            <a:chExt cx="6350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925638" y="6059978"/>
            <a:ext cx="4428159" cy="1907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180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Detect significant deviations in Europe’s weather from historical norms.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82609" y="6059978"/>
            <a:ext cx="4270266" cy="1907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1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Analyze if unusual weather patterns in Europe are increasing over time.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-457665" y="1415424"/>
            <a:ext cx="19203330" cy="2210102"/>
            <a:chOff x="0" y="0"/>
            <a:chExt cx="5057667" cy="58208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057667" cy="582085"/>
            </a:xfrm>
            <a:custGeom>
              <a:avLst/>
              <a:gdLst/>
              <a:ahLst/>
              <a:cxnLst/>
              <a:rect l="l" t="t" r="r" b="b"/>
              <a:pathLst>
                <a:path w="5057667" h="582085">
                  <a:moveTo>
                    <a:pt x="0" y="0"/>
                  </a:moveTo>
                  <a:lnTo>
                    <a:pt x="5057667" y="0"/>
                  </a:lnTo>
                  <a:lnTo>
                    <a:pt x="5057667" y="582085"/>
                  </a:lnTo>
                  <a:lnTo>
                    <a:pt x="0" y="582085"/>
                  </a:lnTo>
                  <a:close/>
                </a:path>
              </a:pathLst>
            </a:custGeom>
            <a:solidFill>
              <a:srgbClr val="09336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5057667" cy="629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3292767" y="1469043"/>
            <a:ext cx="11693902" cy="138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81"/>
              </a:lnSpc>
            </a:pPr>
            <a:r>
              <a:rPr lang="en-US" sz="6000" dirty="0">
                <a:solidFill>
                  <a:srgbClr val="FFFFFF"/>
                </a:solidFill>
                <a:latin typeface="Bobby Jones"/>
                <a:ea typeface="Bobby Jones"/>
                <a:cs typeface="Bobby Jones"/>
                <a:sym typeface="Bobby Jones"/>
              </a:rPr>
              <a:t>Thought experiments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679612" y="6059978"/>
            <a:ext cx="4255434" cy="1907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18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Forecast future weather and identify the safest European regions to live.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245137" y="4668373"/>
            <a:ext cx="545211" cy="634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2800" dirty="0">
                <a:solidFill>
                  <a:srgbClr val="000000"/>
                </a:solidFill>
                <a:latin typeface="Livvic"/>
                <a:ea typeface="Livvic"/>
                <a:cs typeface="Livvic"/>
                <a:sym typeface="Livvic"/>
              </a:rPr>
              <a:t>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90857" y="4668373"/>
            <a:ext cx="545211" cy="65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3600">
                <a:solidFill>
                  <a:srgbClr val="000000"/>
                </a:solidFill>
                <a:latin typeface="Livvic"/>
                <a:ea typeface="Livvic"/>
                <a:cs typeface="Livvic"/>
                <a:sym typeface="Livvic"/>
              </a:rPr>
              <a:t>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534724" y="4668373"/>
            <a:ext cx="545211" cy="65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3600">
                <a:solidFill>
                  <a:srgbClr val="000000"/>
                </a:solidFill>
                <a:latin typeface="Livvic"/>
                <a:ea typeface="Livvic"/>
                <a:cs typeface="Livvic"/>
                <a:sym typeface="Livv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E66CF-D85D-A784-EEFF-5821AB002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1F8980C-516F-1383-824C-E15F7B131365}"/>
              </a:ext>
            </a:extLst>
          </p:cNvPr>
          <p:cNvSpPr txBox="1"/>
          <p:nvPr/>
        </p:nvSpPr>
        <p:spPr>
          <a:xfrm>
            <a:off x="959084" y="1843223"/>
            <a:ext cx="4995863" cy="7011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algn="ctr">
              <a:lnSpc>
                <a:spcPct val="150000"/>
              </a:lnSpc>
              <a:spcBef>
                <a:spcPct val="0"/>
              </a:spcBef>
            </a:pPr>
            <a:r>
              <a:rPr lang="en-US" sz="3600" b="1" u="none" strike="noStrike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Random Forests</a:t>
            </a:r>
            <a:endParaRPr lang="en-US" u="none" strike="noStrike" dirty="0">
              <a:solidFill>
                <a:srgbClr val="093362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1" algn="ctr">
              <a:lnSpc>
                <a:spcPct val="150000"/>
              </a:lnSpc>
              <a:spcBef>
                <a:spcPct val="0"/>
              </a:spcBef>
            </a:pPr>
            <a:endParaRPr lang="en-US" sz="2400" b="1" u="none" strike="noStrike" dirty="0">
              <a:solidFill>
                <a:srgbClr val="093362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1" algn="ctr">
              <a:lnSpc>
                <a:spcPct val="150000"/>
              </a:lnSpc>
              <a:spcBef>
                <a:spcPct val="0"/>
              </a:spcBef>
            </a:pPr>
            <a:endParaRPr lang="en-US" sz="2400" b="1" u="none" strike="noStrike" dirty="0">
              <a:solidFill>
                <a:srgbClr val="093362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1" algn="ctr">
              <a:lnSpc>
                <a:spcPct val="150000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What They Do:</a:t>
            </a:r>
          </a:p>
          <a:p>
            <a:pPr marL="0" lvl="1" algn="ctr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Combines multiple decision trees to improve predictive accuracy.</a:t>
            </a:r>
          </a:p>
          <a:p>
            <a:pPr marL="0" lvl="1" algn="ctr">
              <a:lnSpc>
                <a:spcPct val="150000"/>
              </a:lnSpc>
              <a:spcBef>
                <a:spcPct val="0"/>
              </a:spcBef>
            </a:pPr>
            <a:endParaRPr lang="en-US" sz="2400" u="none" strike="noStrike" dirty="0">
              <a:solidFill>
                <a:srgbClr val="093362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1" algn="ctr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Application:</a:t>
            </a:r>
          </a:p>
          <a:p>
            <a:pPr marL="0" lvl="1" algn="ctr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Feature importance analysis and risk assessment for identifying safe regions.</a:t>
            </a:r>
          </a:p>
          <a:p>
            <a:pPr marL="0" lvl="1" algn="ctr">
              <a:lnSpc>
                <a:spcPts val="5880"/>
              </a:lnSpc>
              <a:spcBef>
                <a:spcPct val="0"/>
              </a:spcBef>
            </a:pPr>
            <a:endParaRPr lang="en-US" sz="2400" u="none" strike="noStrike" dirty="0">
              <a:solidFill>
                <a:srgbClr val="093362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AA61EB3-1BDD-B852-F29E-2E8BC855B1EF}"/>
              </a:ext>
            </a:extLst>
          </p:cNvPr>
          <p:cNvSpPr txBox="1"/>
          <p:nvPr/>
        </p:nvSpPr>
        <p:spPr>
          <a:xfrm>
            <a:off x="522860" y="236594"/>
            <a:ext cx="17242281" cy="1176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98"/>
              </a:lnSpc>
            </a:pPr>
            <a:r>
              <a:rPr lang="en-US" sz="6000" dirty="0">
                <a:solidFill>
                  <a:srgbClr val="093362"/>
                </a:solidFill>
                <a:latin typeface="Bobby Jones"/>
                <a:ea typeface="Bobby Jones"/>
                <a:cs typeface="Bobby Jones"/>
                <a:sym typeface="Bobby Jones"/>
              </a:rPr>
              <a:t>Algorithm Overview: Machine Learning tools</a:t>
            </a: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CD6B9270-039C-2B64-2E9A-09B62894EAB2}"/>
              </a:ext>
            </a:extLst>
          </p:cNvPr>
          <p:cNvSpPr txBox="1"/>
          <p:nvPr/>
        </p:nvSpPr>
        <p:spPr>
          <a:xfrm>
            <a:off x="6881886" y="2011538"/>
            <a:ext cx="4995863" cy="6675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1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CNN &amp; RNN</a:t>
            </a:r>
            <a:endParaRPr lang="en-US" dirty="0">
              <a:solidFill>
                <a:srgbClr val="093362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marR="0" lvl="1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u="none" strike="noStrike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Convolution Neural Networks</a:t>
            </a:r>
            <a:endParaRPr lang="en-US" sz="2000" dirty="0">
              <a:solidFill>
                <a:srgbClr val="093362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marR="0" lvl="1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u="none" strike="noStrike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&amp; Recurrent Neural Networks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93362"/>
              </a:solidFill>
              <a:effectLst/>
              <a:uLnTx/>
              <a:uFillTx/>
              <a:latin typeface="Livvic"/>
              <a:ea typeface="Livvic"/>
              <a:cs typeface="Livvic"/>
              <a:sym typeface="Livvic"/>
            </a:endParaRPr>
          </a:p>
          <a:p>
            <a:pPr marL="0" lvl="1" algn="ctr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What They Do:</a:t>
            </a:r>
          </a:p>
          <a:p>
            <a:pPr marL="0" lvl="1" algn="ctr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CNNs detect spatial patterns; RNNs capture temporal dependencies in sequential data.</a:t>
            </a:r>
          </a:p>
          <a:p>
            <a:pPr marL="0" lvl="1" algn="ctr">
              <a:lnSpc>
                <a:spcPct val="150000"/>
              </a:lnSpc>
              <a:spcBef>
                <a:spcPct val="0"/>
              </a:spcBef>
            </a:pPr>
            <a:endParaRPr lang="en-US" sz="2400" dirty="0">
              <a:solidFill>
                <a:srgbClr val="093362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1" algn="ctr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Application:</a:t>
            </a:r>
          </a:p>
          <a:p>
            <a:pPr marL="0" lvl="1" algn="ctr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Identify deviations in weather patterns and forecast future conditions.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F12AE524-AFC5-440D-1CA5-2E29E64C04E4}"/>
              </a:ext>
            </a:extLst>
          </p:cNvPr>
          <p:cNvSpPr txBox="1"/>
          <p:nvPr/>
        </p:nvSpPr>
        <p:spPr>
          <a:xfrm>
            <a:off x="12769278" y="1965372"/>
            <a:ext cx="4995863" cy="67676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1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93362"/>
                </a:solidFill>
                <a:effectLst/>
                <a:uLnTx/>
                <a:uFillTx/>
                <a:latin typeface="Livvic"/>
                <a:ea typeface="Livvic"/>
                <a:cs typeface="Livvic"/>
                <a:sym typeface="Livvic"/>
              </a:rPr>
              <a:t>GAN</a:t>
            </a:r>
          </a:p>
          <a:p>
            <a:pPr marL="0" marR="0" lvl="1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Generative Adversarial Network</a:t>
            </a:r>
          </a:p>
          <a:p>
            <a:pPr marL="0" marR="0" lvl="1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93362"/>
              </a:solidFill>
              <a:effectLst/>
              <a:uLnTx/>
              <a:uFillTx/>
              <a:latin typeface="Livvic"/>
              <a:ea typeface="Livvic"/>
              <a:cs typeface="Livvic"/>
              <a:sym typeface="Livvic"/>
            </a:endParaRPr>
          </a:p>
          <a:p>
            <a:pPr marL="0" lvl="1" algn="ctr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What They Do:</a:t>
            </a:r>
          </a:p>
          <a:p>
            <a:pPr marL="0" lvl="1" algn="ctr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GANs create synthetic data by putting two neural networks against each other.</a:t>
            </a:r>
          </a:p>
          <a:p>
            <a:pPr marL="0" lvl="1" algn="ctr">
              <a:lnSpc>
                <a:spcPct val="150000"/>
              </a:lnSpc>
              <a:spcBef>
                <a:spcPct val="0"/>
              </a:spcBef>
            </a:pPr>
            <a:endParaRPr lang="en-US" sz="2400" dirty="0">
              <a:solidFill>
                <a:srgbClr val="093362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0" lvl="1" algn="ctr">
              <a:lnSpc>
                <a:spcPct val="15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Application:</a:t>
            </a:r>
          </a:p>
          <a:p>
            <a:pPr marL="0" lvl="1" algn="ctr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Simulate future weather scenarios to predict potential climate changes.</a:t>
            </a:r>
          </a:p>
        </p:txBody>
      </p:sp>
    </p:spTree>
    <p:extLst>
      <p:ext uri="{BB962C8B-B14F-4D97-AF65-F5344CB8AC3E}">
        <p14:creationId xmlns:p14="http://schemas.microsoft.com/office/powerpoint/2010/main" val="1689227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3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201400" y="-342900"/>
            <a:ext cx="7315200" cy="10972800"/>
            <a:chOff x="529168" y="0"/>
            <a:chExt cx="6350000" cy="9525000"/>
          </a:xfrm>
        </p:grpSpPr>
        <p:sp>
          <p:nvSpPr>
            <p:cNvPr id="5" name="Freeform 5"/>
            <p:cNvSpPr/>
            <p:nvPr/>
          </p:nvSpPr>
          <p:spPr>
            <a:xfrm>
              <a:off x="529168" y="0"/>
              <a:ext cx="6350000" cy="9525000"/>
            </a:xfrm>
            <a:custGeom>
              <a:avLst/>
              <a:gdLst/>
              <a:ahLst/>
              <a:cxnLst/>
              <a:rect l="l" t="t" r="r" b="b"/>
              <a:pathLst>
                <a:path w="6350000" h="9525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2"/>
              <a:stretch>
                <a:fillRect l="-62570" r="-625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5">
            <a:extLst>
              <a:ext uri="{FF2B5EF4-FFF2-40B4-BE49-F238E27FC236}">
                <a16:creationId xmlns:a16="http://schemas.microsoft.com/office/drawing/2014/main" id="{27B64790-FBE2-AE7B-883C-25E98AF5708E}"/>
              </a:ext>
            </a:extLst>
          </p:cNvPr>
          <p:cNvSpPr txBox="1"/>
          <p:nvPr/>
        </p:nvSpPr>
        <p:spPr>
          <a:xfrm>
            <a:off x="228600" y="-76200"/>
            <a:ext cx="10146236" cy="21338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83"/>
              </a:lnSpc>
            </a:pPr>
            <a:r>
              <a:rPr lang="en-US" sz="5400" dirty="0">
                <a:solidFill>
                  <a:srgbClr val="FFFFFF"/>
                </a:solidFill>
                <a:latin typeface="Bobby Jones"/>
                <a:ea typeface="Bobby Jones"/>
                <a:cs typeface="Bobby Jones"/>
                <a:sym typeface="Bobby Jones"/>
              </a:rPr>
              <a:t>1: Assessing trends in Unusual Weather Patterns</a:t>
            </a: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423F54C9-BEE7-1AA8-F33F-57FD5BA332F9}"/>
              </a:ext>
            </a:extLst>
          </p:cNvPr>
          <p:cNvSpPr txBox="1"/>
          <p:nvPr/>
        </p:nvSpPr>
        <p:spPr>
          <a:xfrm>
            <a:off x="629090" y="1896417"/>
            <a:ext cx="10146236" cy="91144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60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Thought Experiment:</a:t>
            </a:r>
            <a:r>
              <a:rPr lang="en-US" sz="2400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Analyze historical data to determine if the frequency and intensity of unusual weather patterns are increasing, indicating shifts in climate behavior. </a:t>
            </a:r>
          </a:p>
          <a:p>
            <a:pPr lvl="1" indent="-457200">
              <a:lnSpc>
                <a:spcPts val="60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Data Collection:</a:t>
            </a:r>
            <a:r>
              <a:rPr lang="en-US" sz="2400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Historical time-series data of weather anomalies .</a:t>
            </a:r>
            <a:endParaRPr lang="en-US" sz="2400" b="1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lvl="1" indent="-457200">
              <a:lnSpc>
                <a:spcPts val="60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Algorithms:</a:t>
            </a:r>
            <a:r>
              <a:rPr lang="en-US" sz="2400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</a:p>
          <a:p>
            <a:pPr lvl="2" indent="-457200">
              <a:lnSpc>
                <a:spcPts val="602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2400" b="1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RNNs (LSTMs) &amp; Random Forest:</a:t>
            </a:r>
            <a:r>
              <a:rPr lang="en-US" sz="2400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Used to analyze sequence data to detect trends and temporal patterns over time. Used to provide feature importance and to confirm trend shifts in weather data. </a:t>
            </a:r>
          </a:p>
          <a:p>
            <a:pPr lvl="2" indent="-457200">
              <a:lnSpc>
                <a:spcPts val="602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2400" b="1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Reason:</a:t>
            </a:r>
            <a:r>
              <a:rPr lang="en-US" sz="2400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LSTMs capture temporal dependencies; Random Forests handle tabular data and surface feature importance to explain changes.</a:t>
            </a:r>
          </a:p>
          <a:p>
            <a:pPr lvl="2" indent="-457200">
              <a:lnSpc>
                <a:spcPts val="602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endParaRPr lang="en-US" sz="2400" b="1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213757" y="38100"/>
            <a:ext cx="15860487" cy="1111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893"/>
              </a:lnSpc>
            </a:pPr>
            <a:r>
              <a:rPr lang="en-US" sz="5400" dirty="0">
                <a:solidFill>
                  <a:srgbClr val="093362"/>
                </a:solidFill>
                <a:latin typeface="Bobby Jones"/>
                <a:ea typeface="Bobby Jones"/>
                <a:cs typeface="Bobby Jones"/>
                <a:sym typeface="Bobby Jones"/>
              </a:rPr>
              <a:t>1: Assessing trends in Unusual Weather Patterns</a:t>
            </a:r>
          </a:p>
        </p:txBody>
      </p:sp>
      <p:pic>
        <p:nvPicPr>
          <p:cNvPr id="10" name="Picture 9" descr="A graph of a graph showing the weather&#10;&#10;AI-generated content may be incorrect.">
            <a:extLst>
              <a:ext uri="{FF2B5EF4-FFF2-40B4-BE49-F238E27FC236}">
                <a16:creationId xmlns:a16="http://schemas.microsoft.com/office/drawing/2014/main" id="{95938A53-5167-804F-95DC-C97BAEB43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9156" y="1922578"/>
            <a:ext cx="7478244" cy="4917843"/>
          </a:xfrm>
          <a:prstGeom prst="rect">
            <a:avLst/>
          </a:prstGeom>
        </p:spPr>
      </p:pic>
      <p:sp>
        <p:nvSpPr>
          <p:cNvPr id="13" name="TextBox 4">
            <a:extLst>
              <a:ext uri="{FF2B5EF4-FFF2-40B4-BE49-F238E27FC236}">
                <a16:creationId xmlns:a16="http://schemas.microsoft.com/office/drawing/2014/main" id="{33435CDF-72D1-779B-3F81-31E60FC82A02}"/>
              </a:ext>
            </a:extLst>
          </p:cNvPr>
          <p:cNvSpPr txBox="1"/>
          <p:nvPr/>
        </p:nvSpPr>
        <p:spPr>
          <a:xfrm>
            <a:off x="10723638" y="7019128"/>
            <a:ext cx="566928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algn="ctr">
              <a:spcBef>
                <a:spcPct val="0"/>
              </a:spcBef>
            </a:pPr>
            <a:r>
              <a:rPr lang="en-US" sz="2400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Madrid, Budapest, and Ljubljana are weather stations that have the most impact on the model.</a:t>
            </a:r>
          </a:p>
        </p:txBody>
      </p:sp>
      <p:pic>
        <p:nvPicPr>
          <p:cNvPr id="17" name="Picture 16" descr="A diagram of a company&#10;&#10;AI-generated content may be incorrect.">
            <a:extLst>
              <a:ext uri="{FF2B5EF4-FFF2-40B4-BE49-F238E27FC236}">
                <a16:creationId xmlns:a16="http://schemas.microsoft.com/office/drawing/2014/main" id="{749ACE12-187B-5AB0-3A2C-17B44D4B92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922578"/>
            <a:ext cx="8395239" cy="4114800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C0931A85-213A-857A-1B7B-3A0443B07BA5}"/>
              </a:ext>
            </a:extLst>
          </p:cNvPr>
          <p:cNvSpPr txBox="1"/>
          <p:nvPr/>
        </p:nvSpPr>
        <p:spPr>
          <a:xfrm>
            <a:off x="2353579" y="7019128"/>
            <a:ext cx="566928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algn="ctr">
              <a:spcBef>
                <a:spcPct val="0"/>
              </a:spcBef>
            </a:pPr>
            <a:r>
              <a:rPr lang="en-US" sz="2400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Decision tree from random forest classifier using data from the 2000s. Accuracy of  96%.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3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1201400" y="-457479"/>
            <a:ext cx="7315200" cy="10972800"/>
            <a:chOff x="0" y="0"/>
            <a:chExt cx="6327868" cy="94918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27868" cy="9491801"/>
            </a:xfrm>
            <a:custGeom>
              <a:avLst/>
              <a:gdLst/>
              <a:ahLst/>
              <a:cxnLst/>
              <a:rect l="l" t="t" r="r" b="b"/>
              <a:pathLst>
                <a:path w="6350000" h="9525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2"/>
              <a:stretch>
                <a:fillRect l="-77474" r="-47244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29090" y="2189586"/>
            <a:ext cx="10146236" cy="83450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60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Thought Experiment:</a:t>
            </a:r>
            <a:r>
              <a:rPr lang="en-US" sz="2400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Investigate and identify weather patterns in Europe that significantly deviate from historical regional norms to understand potential climate change impacts.</a:t>
            </a:r>
          </a:p>
          <a:p>
            <a:pPr lvl="1" indent="-457200">
              <a:lnSpc>
                <a:spcPts val="60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Data Collection:</a:t>
            </a:r>
            <a:r>
              <a:rPr lang="en-US" sz="2400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historical weather data from various regions in Europe over the last 100 years.</a:t>
            </a:r>
            <a:endParaRPr lang="en-US" sz="2400" b="1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lvl="1" indent="-457200">
              <a:lnSpc>
                <a:spcPts val="60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Algorithms:</a:t>
            </a:r>
            <a:r>
              <a:rPr lang="en-US" sz="2400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</a:p>
          <a:p>
            <a:pPr lvl="2" indent="-457200">
              <a:lnSpc>
                <a:spcPts val="602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2400" b="1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CNNs:</a:t>
            </a:r>
            <a:r>
              <a:rPr lang="en-US" sz="2400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 Used to analyze spatial data to detect patterns and anomalies across different regions.</a:t>
            </a:r>
          </a:p>
          <a:p>
            <a:pPr lvl="2" indent="-457200">
              <a:lnSpc>
                <a:spcPts val="602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2400" b="1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Reason: </a:t>
            </a:r>
            <a:r>
              <a:rPr lang="en-US" sz="2400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Excels at extracting spatial features from images, making it ideal for classifying weather photos into categories.</a:t>
            </a:r>
          </a:p>
          <a:p>
            <a:pPr lvl="2" indent="-457200">
              <a:lnSpc>
                <a:spcPts val="602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endParaRPr lang="en-US" sz="2400" b="1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28600" y="-76200"/>
            <a:ext cx="10146236" cy="2151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83"/>
              </a:lnSpc>
            </a:pPr>
            <a:r>
              <a:rPr lang="en-US" sz="5400" dirty="0">
                <a:solidFill>
                  <a:srgbClr val="FFFFFF"/>
                </a:solidFill>
                <a:latin typeface="Bobby Jones"/>
                <a:ea typeface="Bobby Jones"/>
                <a:cs typeface="Bobby Jones"/>
                <a:sym typeface="Bobby Jones"/>
              </a:rPr>
              <a:t>2: Identifying Deviations in Weather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023936" y="-38100"/>
            <a:ext cx="16235363" cy="1159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98"/>
              </a:lnSpc>
            </a:pPr>
            <a:r>
              <a:rPr lang="en-US" sz="5400" dirty="0">
                <a:solidFill>
                  <a:srgbClr val="093362"/>
                </a:solidFill>
                <a:latin typeface="Bobby Jones"/>
                <a:ea typeface="Bobby Jones"/>
                <a:cs typeface="Bobby Jones"/>
                <a:sym typeface="Bobby Jones"/>
              </a:rPr>
              <a:t>2: Identifying Deviations in Weather Patterns</a:t>
            </a:r>
            <a:endParaRPr lang="en-US" sz="6000" dirty="0">
              <a:solidFill>
                <a:srgbClr val="093362"/>
              </a:solidFill>
              <a:latin typeface="Bobby Jones"/>
              <a:ea typeface="Bobby Jones"/>
              <a:cs typeface="Bobby Jones"/>
              <a:sym typeface="Bobby Jones"/>
            </a:endParaRPr>
          </a:p>
        </p:txBody>
      </p:sp>
      <p:pic>
        <p:nvPicPr>
          <p:cNvPr id="3" name="Picture 2" descr="A chart of a graph&#10;&#10;AI-generated content may be incorrect.">
            <a:extLst>
              <a:ext uri="{FF2B5EF4-FFF2-40B4-BE49-F238E27FC236}">
                <a16:creationId xmlns:a16="http://schemas.microsoft.com/office/drawing/2014/main" id="{192B24E5-A5A7-E1CB-40F6-CE76E778D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449" y="2400300"/>
            <a:ext cx="5600700" cy="5003800"/>
          </a:xfrm>
          <a:prstGeom prst="rect">
            <a:avLst/>
          </a:prstGeom>
        </p:spPr>
      </p:pic>
      <p:pic>
        <p:nvPicPr>
          <p:cNvPr id="8" name="Picture 7" descr="A sun shining over a beach&#10;&#10;AI-generated content may be incorrect.">
            <a:extLst>
              <a:ext uri="{FF2B5EF4-FFF2-40B4-BE49-F238E27FC236}">
                <a16:creationId xmlns:a16="http://schemas.microsoft.com/office/drawing/2014/main" id="{8009BB12-5CFA-BDDD-E999-A80F133F05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549" y="2730500"/>
            <a:ext cx="6794500" cy="4343400"/>
          </a:xfrm>
          <a:prstGeom prst="rect">
            <a:avLst/>
          </a:prstGeom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A38E456D-0351-FC90-F901-52BD1FF2DFF2}"/>
              </a:ext>
            </a:extLst>
          </p:cNvPr>
          <p:cNvSpPr txBox="1"/>
          <p:nvPr/>
        </p:nvSpPr>
        <p:spPr>
          <a:xfrm>
            <a:off x="1569159" y="7438656"/>
            <a:ext cx="5669280" cy="2286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algn="ctr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Confusion Matrix derived from CNN model categorizing weather. The accuracy of the model is 88%.</a:t>
            </a:r>
          </a:p>
          <a:p>
            <a:pPr marL="0" lvl="1" algn="ctr">
              <a:lnSpc>
                <a:spcPts val="5880"/>
              </a:lnSpc>
              <a:spcBef>
                <a:spcPct val="0"/>
              </a:spcBef>
            </a:pPr>
            <a:endParaRPr lang="en-US" sz="2400" u="none" strike="noStrike" dirty="0">
              <a:solidFill>
                <a:srgbClr val="093362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12801451-36A4-2D75-FFC6-5E73E403D184}"/>
              </a:ext>
            </a:extLst>
          </p:cNvPr>
          <p:cNvSpPr txBox="1"/>
          <p:nvPr/>
        </p:nvSpPr>
        <p:spPr>
          <a:xfrm>
            <a:off x="10332159" y="7438656"/>
            <a:ext cx="5669280" cy="2154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algn="ctr">
              <a:lnSpc>
                <a:spcPts val="5880"/>
              </a:lnSpc>
              <a:spcBef>
                <a:spcPct val="0"/>
              </a:spcBef>
            </a:pPr>
            <a:r>
              <a:rPr lang="en-US" sz="2400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Prediction display showing an example of a correct prediction.</a:t>
            </a:r>
          </a:p>
          <a:p>
            <a:pPr marL="0" lvl="1" algn="ctr">
              <a:lnSpc>
                <a:spcPts val="5880"/>
              </a:lnSpc>
              <a:spcBef>
                <a:spcPct val="0"/>
              </a:spcBef>
            </a:pPr>
            <a:endParaRPr lang="en-US" sz="2400" u="none" strike="noStrike" dirty="0">
              <a:solidFill>
                <a:srgbClr val="093362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3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1201400" y="-342900"/>
            <a:ext cx="7315200" cy="10972800"/>
            <a:chOff x="1271158" y="415835"/>
            <a:chExt cx="6350000" cy="9525000"/>
          </a:xfrm>
        </p:grpSpPr>
        <p:sp>
          <p:nvSpPr>
            <p:cNvPr id="3" name="Freeform 3"/>
            <p:cNvSpPr/>
            <p:nvPr/>
          </p:nvSpPr>
          <p:spPr>
            <a:xfrm>
              <a:off x="1271158" y="415835"/>
              <a:ext cx="6350000" cy="9525000"/>
            </a:xfrm>
            <a:custGeom>
              <a:avLst/>
              <a:gdLst/>
              <a:ahLst/>
              <a:cxnLst/>
              <a:rect l="l" t="t" r="r" b="b"/>
              <a:pathLst>
                <a:path w="6350000" h="9525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2"/>
              <a:stretch>
                <a:fillRect l="-67978" r="-9868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E5140A9-34FD-1B41-8F4B-0F05BC057891}"/>
              </a:ext>
            </a:extLst>
          </p:cNvPr>
          <p:cNvSpPr txBox="1"/>
          <p:nvPr/>
        </p:nvSpPr>
        <p:spPr>
          <a:xfrm>
            <a:off x="428845" y="266446"/>
            <a:ext cx="10146236" cy="21338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83"/>
              </a:lnSpc>
            </a:pPr>
            <a:r>
              <a:rPr lang="en-US" sz="5400" dirty="0">
                <a:solidFill>
                  <a:srgbClr val="FFFFFF"/>
                </a:solidFill>
                <a:latin typeface="Bobby Jones"/>
                <a:ea typeface="Bobby Jones"/>
                <a:cs typeface="Bobby Jones"/>
                <a:sym typeface="Bobby Jones"/>
              </a:rPr>
              <a:t>3: Projecting future climate scenarios and safe regions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15539A74-6AC0-1B18-5B6F-C495B1B8A1B1}"/>
              </a:ext>
            </a:extLst>
          </p:cNvPr>
          <p:cNvSpPr txBox="1"/>
          <p:nvPr/>
        </p:nvSpPr>
        <p:spPr>
          <a:xfrm>
            <a:off x="428845" y="2909341"/>
            <a:ext cx="10146236" cy="6806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60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Thought Experiment:</a:t>
            </a:r>
            <a:r>
              <a:rPr lang="en-US" sz="2400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Generate future weather condition scenarios for the next 25 to 50 years and identify regions in Europe that will be safest for habitation based on these projections. </a:t>
            </a:r>
          </a:p>
          <a:p>
            <a:pPr marL="0" lvl="1">
              <a:lnSpc>
                <a:spcPts val="602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Algorithms:</a:t>
            </a:r>
            <a:r>
              <a:rPr lang="en-US" sz="2400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</a:p>
          <a:p>
            <a:pPr lvl="2" indent="-457200">
              <a:lnSpc>
                <a:spcPts val="602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2400" b="1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CNN: </a:t>
            </a:r>
            <a:r>
              <a:rPr lang="en-US" sz="2400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Spatial data analysis and pattern recognition.</a:t>
            </a:r>
          </a:p>
          <a:p>
            <a:pPr lvl="2" indent="-457200">
              <a:lnSpc>
                <a:spcPts val="602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2400" b="1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Random Forests: </a:t>
            </a:r>
            <a:r>
              <a:rPr lang="en-US" sz="2400" dirty="0">
                <a:solidFill>
                  <a:srgbClr val="FFFFFF"/>
                </a:solidFill>
                <a:latin typeface="Livvic"/>
                <a:ea typeface="Livvic"/>
                <a:cs typeface="Livvic"/>
                <a:sym typeface="Livvic"/>
              </a:rPr>
              <a:t>Conduct risk assessments, factor in predicted weather conditions and assess regional safety.</a:t>
            </a:r>
          </a:p>
          <a:p>
            <a:pPr lvl="2" indent="-457200">
              <a:lnSpc>
                <a:spcPts val="602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endParaRPr lang="en-US" sz="2400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  <a:p>
            <a:pPr lvl="2" indent="-457200">
              <a:lnSpc>
                <a:spcPts val="602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endParaRPr lang="en-US" sz="2400" dirty="0">
              <a:solidFill>
                <a:srgbClr val="FFFFFF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7743" y="3695700"/>
            <a:ext cx="16292513" cy="44240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1" indent="-342900">
              <a:lnSpc>
                <a:spcPts val="58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Algorithm:</a:t>
            </a:r>
            <a:r>
              <a:rPr lang="en-US" sz="2400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 </a:t>
            </a:r>
          </a:p>
          <a:p>
            <a:pPr marL="800100" lvl="2" indent="-342900">
              <a:lnSpc>
                <a:spcPts val="588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2400" b="1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GANS:</a:t>
            </a:r>
            <a:r>
              <a:rPr lang="en-US" sz="2400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 Use GANSs to simulate various weather patterns and scenarios, such as temperature shifts or precipitation changes over time. </a:t>
            </a:r>
            <a:endParaRPr lang="en-US" sz="2400" b="1" dirty="0">
              <a:solidFill>
                <a:srgbClr val="093362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342900" lvl="1" indent="-342900">
              <a:lnSpc>
                <a:spcPts val="58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Approach:</a:t>
            </a:r>
            <a:r>
              <a:rPr lang="en-US" sz="2400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 Create synthetic weather maps to explore long term predictions (e.g. 25 to 50 years).</a:t>
            </a:r>
            <a:endParaRPr lang="en-US" sz="2400" b="1" dirty="0">
              <a:solidFill>
                <a:srgbClr val="093362"/>
              </a:solidFill>
              <a:latin typeface="Livvic"/>
              <a:ea typeface="Livvic"/>
              <a:cs typeface="Livvic"/>
              <a:sym typeface="Livvic"/>
            </a:endParaRPr>
          </a:p>
          <a:p>
            <a:pPr marL="342900" lvl="1" indent="-342900">
              <a:lnSpc>
                <a:spcPts val="58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Expected Outcome: </a:t>
            </a:r>
            <a:r>
              <a:rPr lang="en-US" sz="2400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A tool that visualizes potential future climates, allowing stakeholders to plan for extreme scenarios.</a:t>
            </a:r>
            <a:endParaRPr lang="en-US" sz="2400" b="1" dirty="0">
              <a:solidFill>
                <a:srgbClr val="093362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131342" y="364573"/>
            <a:ext cx="12025314" cy="2492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98"/>
              </a:lnSpc>
            </a:pPr>
            <a:r>
              <a:rPr lang="en-US" sz="5400" dirty="0">
                <a:solidFill>
                  <a:srgbClr val="093362"/>
                </a:solidFill>
                <a:latin typeface="Bobby Jones"/>
                <a:ea typeface="Bobby Jones"/>
                <a:cs typeface="Bobby Jones"/>
                <a:sym typeface="Bobby Jones"/>
              </a:rPr>
              <a:t>3: Projecting future climate scenarios and safe regions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1201400" y="-495300"/>
            <a:ext cx="7315200" cy="10972800"/>
            <a:chOff x="0" y="0"/>
            <a:chExt cx="6350000" cy="952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9525000"/>
            </a:xfrm>
            <a:custGeom>
              <a:avLst/>
              <a:gdLst/>
              <a:ahLst/>
              <a:cxnLst/>
              <a:rect l="l" t="t" r="r" b="b"/>
              <a:pathLst>
                <a:path w="6350000" h="9525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2"/>
              <a:stretch>
                <a:fillRect l="-62500" r="-6250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50130" y="1546478"/>
            <a:ext cx="8932070" cy="8778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ClimateWins</a:t>
            </a:r>
            <a:r>
              <a:rPr lang="en-US" sz="2400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 can use a combination of Random Forest, CNNs, and GANs for predicting and simulating future weather conditions.</a:t>
            </a:r>
          </a:p>
          <a:p>
            <a:pPr lvl="1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CNNs can be used for analyzing satellite data and weather imagery to improve real-time classification of weather conditions.</a:t>
            </a:r>
          </a:p>
          <a:p>
            <a:pPr lvl="1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Random Forest models can be used for immediate analysis, and to determine feature importance and identify key predictors of abnormal weather patterns.</a:t>
            </a:r>
          </a:p>
          <a:p>
            <a:pPr lvl="1" indent="-4572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Furthermore, </a:t>
            </a:r>
            <a:r>
              <a:rPr lang="en-US" sz="2400" dirty="0" err="1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ClimateWins</a:t>
            </a:r>
            <a:r>
              <a:rPr lang="en-US" sz="2400" dirty="0">
                <a:solidFill>
                  <a:srgbClr val="093362"/>
                </a:solidFill>
                <a:latin typeface="Livvic"/>
                <a:ea typeface="Livvic"/>
                <a:cs typeface="Livvic"/>
                <a:sym typeface="Livvic"/>
              </a:rPr>
              <a:t> will also find value in investing in developing GANs for simulating future climate scenarios.</a:t>
            </a:r>
          </a:p>
          <a:p>
            <a:pPr lvl="1" indent="-457200">
              <a:lnSpc>
                <a:spcPts val="58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93362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50130" y="251960"/>
            <a:ext cx="8932070" cy="1005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83"/>
              </a:lnSpc>
            </a:pPr>
            <a:r>
              <a:rPr lang="en-US" sz="5400" dirty="0">
                <a:solidFill>
                  <a:srgbClr val="093362"/>
                </a:solidFill>
                <a:latin typeface="Bobby Jones"/>
                <a:ea typeface="Bobby Jones"/>
                <a:cs typeface="Bobby Jones"/>
                <a:sym typeface="Bobby Jones"/>
              </a:rPr>
              <a:t>Summary &amp; Recommendations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177" t="-49934" r="-56176" b="-5841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457665" y="3230789"/>
            <a:ext cx="19203330" cy="4628115"/>
            <a:chOff x="0" y="0"/>
            <a:chExt cx="5057667" cy="12189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57667" cy="1218928"/>
            </a:xfrm>
            <a:custGeom>
              <a:avLst/>
              <a:gdLst/>
              <a:ahLst/>
              <a:cxnLst/>
              <a:rect l="l" t="t" r="r" b="b"/>
              <a:pathLst>
                <a:path w="5057667" h="1218928">
                  <a:moveTo>
                    <a:pt x="0" y="0"/>
                  </a:moveTo>
                  <a:lnTo>
                    <a:pt x="5057667" y="0"/>
                  </a:lnTo>
                  <a:lnTo>
                    <a:pt x="5057667" y="1218928"/>
                  </a:lnTo>
                  <a:lnTo>
                    <a:pt x="0" y="1218928"/>
                  </a:lnTo>
                  <a:close/>
                </a:path>
              </a:pathLst>
            </a:custGeom>
            <a:solidFill>
              <a:srgbClr val="09336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057667" cy="1266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857996" y="583524"/>
            <a:ext cx="9119952" cy="911995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9336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120650" y="846178"/>
            <a:ext cx="8594644" cy="859464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457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8497037" y="1222581"/>
            <a:ext cx="7841869" cy="7841838"/>
            <a:chOff x="0" y="0"/>
            <a:chExt cx="6350000" cy="63499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t="-15898" b="-1589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3243558"/>
            <a:ext cx="6829296" cy="151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26"/>
              </a:lnSpc>
            </a:pPr>
            <a:r>
              <a:rPr lang="en-US" sz="8800" dirty="0">
                <a:solidFill>
                  <a:srgbClr val="FFFFFF"/>
                </a:solidFill>
                <a:latin typeface="Bobby Jones"/>
                <a:ea typeface="Bobby Jones"/>
                <a:cs typeface="Bobby Jones"/>
                <a:sym typeface="Bobby Jones"/>
              </a:rPr>
              <a:t>THANK YOU!</a:t>
            </a:r>
          </a:p>
        </p:txBody>
      </p:sp>
      <p:pic>
        <p:nvPicPr>
          <p:cNvPr id="15" name="Picture 14">
            <a:hlinkClick r:id="rId4"/>
            <a:extLst>
              <a:ext uri="{FF2B5EF4-FFF2-40B4-BE49-F238E27FC236}">
                <a16:creationId xmlns:a16="http://schemas.microsoft.com/office/drawing/2014/main" id="{A1FE0FAA-06A6-D497-A49A-AB91D708FD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8208" y="5482723"/>
            <a:ext cx="1219200" cy="913380"/>
          </a:xfrm>
          <a:prstGeom prst="rect">
            <a:avLst/>
          </a:prstGeom>
        </p:spPr>
      </p:pic>
      <p:pic>
        <p:nvPicPr>
          <p:cNvPr id="16" name="Picture 15">
            <a:hlinkClick r:id="rId6"/>
            <a:extLst>
              <a:ext uri="{FF2B5EF4-FFF2-40B4-BE49-F238E27FC236}">
                <a16:creationId xmlns:a16="http://schemas.microsoft.com/office/drawing/2014/main" id="{65D7910C-A454-2143-0C44-8BF6CDF0D8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7832" y="5482213"/>
            <a:ext cx="922352" cy="914400"/>
          </a:xfrm>
          <a:prstGeom prst="rect">
            <a:avLst/>
          </a:prstGeom>
        </p:spPr>
      </p:pic>
      <p:pic>
        <p:nvPicPr>
          <p:cNvPr id="17" name="Picture 16">
            <a:hlinkClick r:id="rId8"/>
            <a:extLst>
              <a:ext uri="{FF2B5EF4-FFF2-40B4-BE49-F238E27FC236}">
                <a16:creationId xmlns:a16="http://schemas.microsoft.com/office/drawing/2014/main" id="{92838EA4-43C1-9DA7-65CC-1CB860D6EA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0608" y="5482213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13021</TotalTime>
  <Words>679</Words>
  <Application>Microsoft Macintosh PowerPoint</Application>
  <PresentationFormat>Custom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Bobby Jones</vt:lpstr>
      <vt:lpstr>Livvic</vt:lpstr>
      <vt:lpstr>Calibri</vt:lpstr>
      <vt:lpstr>Courier New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Patterns and Climate Presentation in Blue White Illustrative Style</dc:title>
  <cp:lastModifiedBy>Afsheen Agha</cp:lastModifiedBy>
  <cp:revision>210</cp:revision>
  <dcterms:created xsi:type="dcterms:W3CDTF">2006-08-16T00:00:00Z</dcterms:created>
  <dcterms:modified xsi:type="dcterms:W3CDTF">2025-08-05T00:40:26Z</dcterms:modified>
  <dc:identifier>DAGhjByYDnE</dc:identifier>
</cp:coreProperties>
</file>